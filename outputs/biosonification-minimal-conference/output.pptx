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c604a4f283436e" /><Relationship Type="http://schemas.openxmlformats.org/officeDocument/2006/relationships/extended-properties" Target="/docProps/app.xml" Id="R3099508fcb0f45bc" /><Relationship Type="http://schemas.openxmlformats.org/officeDocument/2006/relationships/officeDocument" Target="/ppt/presentation.xml" Id="Re3980172f88241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3db1d37a084101"/>
  </p:sldMasterIdLst>
  <p:notesMasterIdLst>
    <p:notesMasterId xmlns:r="http://schemas.openxmlformats.org/officeDocument/2006/relationships" r:id="R7bfcc82914d44e1e"/>
  </p:notesMasterIdLst>
  <p:sldIdLst>
    <p:sldId xmlns:r="http://schemas.openxmlformats.org/officeDocument/2006/relationships" id="256" r:id="R4c89053e57e149eb"/>
    <p:sldId xmlns:r="http://schemas.openxmlformats.org/officeDocument/2006/relationships" id="257" r:id="R624dbd93ec784135"/>
    <p:sldId xmlns:r="http://schemas.openxmlformats.org/officeDocument/2006/relationships" id="258" r:id="R6adc432d497d4287"/>
    <p:sldId xmlns:r="http://schemas.openxmlformats.org/officeDocument/2006/relationships" id="259" r:id="R67d19fe216534213"/>
    <p:sldId xmlns:r="http://schemas.openxmlformats.org/officeDocument/2006/relationships" id="260" r:id="R40e3530b36cd4449"/>
    <p:sldId xmlns:r="http://schemas.openxmlformats.org/officeDocument/2006/relationships" id="261" r:id="R0e82e161ba604e5b"/>
    <p:sldId xmlns:r="http://schemas.openxmlformats.org/officeDocument/2006/relationships" id="262" r:id="Rfef59851e3a1478b"/>
    <p:sldId xmlns:r="http://schemas.openxmlformats.org/officeDocument/2006/relationships" id="263" r:id="R0f42fff0af1d44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3db1d37a084101" /><Relationship Type="http://schemas.openxmlformats.org/officeDocument/2006/relationships/theme" Target="/ppt/theme/theme1.xml" Id="Rfed29c9373fe4a3b" /><Relationship Type="http://schemas.openxmlformats.org/officeDocument/2006/relationships/notesMaster" Target="/ppt/notesMasters/notesMaster1.xml" Id="R7bfcc82914d44e1e" /><Relationship Type="http://schemas.openxmlformats.org/officeDocument/2006/relationships/presProps" Target="/ppt/presProps.xml" Id="Rcf811f64de8b4fe1" /><Relationship Type="http://schemas.openxmlformats.org/officeDocument/2006/relationships/viewProps" Target="/ppt/viewProps.xml" Id="Rbf34245d64b841af" /><Relationship Type="http://schemas.openxmlformats.org/officeDocument/2006/relationships/tableStyles" Target="/ppt/tableStyles.xml" Id="Rf91c766f95cb47e7" /><Relationship Type="http://schemas.openxmlformats.org/officeDocument/2006/relationships/slide" Target="/ppt/slides/slide1.xml" Id="R4c89053e57e149eb" /><Relationship Type="http://schemas.openxmlformats.org/officeDocument/2006/relationships/slide" Target="/ppt/slides/slide2.xml" Id="R624dbd93ec784135" /><Relationship Type="http://schemas.openxmlformats.org/officeDocument/2006/relationships/slide" Target="/ppt/slides/slide3.xml" Id="R6adc432d497d4287" /><Relationship Type="http://schemas.openxmlformats.org/officeDocument/2006/relationships/slide" Target="/ppt/slides/slide4.xml" Id="R67d19fe216534213" /><Relationship Type="http://schemas.openxmlformats.org/officeDocument/2006/relationships/slide" Target="/ppt/slides/slide5.xml" Id="R40e3530b36cd4449" /><Relationship Type="http://schemas.openxmlformats.org/officeDocument/2006/relationships/slide" Target="/ppt/slides/slide6.xml" Id="R0e82e161ba604e5b" /><Relationship Type="http://schemas.openxmlformats.org/officeDocument/2006/relationships/slide" Target="/ppt/slides/slide7.xml" Id="Rfef59851e3a1478b" /><Relationship Type="http://schemas.openxmlformats.org/officeDocument/2006/relationships/slide" Target="/ppt/slides/slide8.xml" Id="R0f42fff0af1d44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1b3e7e620b34c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6672e01a4046a1" /><Relationship Type="http://schemas.openxmlformats.org/officeDocument/2006/relationships/notesMaster" Target="/ppt/notesMasters/notesMaster1.xml" Id="R49ae7927e7bc4b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c221d69b6c42eb" /><Relationship Type="http://schemas.openxmlformats.org/officeDocument/2006/relationships/notesMaster" Target="/ppt/notesMasters/notesMaster1.xml" Id="R2c641ec3f86746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e274bb12314a1d" /><Relationship Type="http://schemas.openxmlformats.org/officeDocument/2006/relationships/notesMaster" Target="/ppt/notesMasters/notesMaster1.xml" Id="Rb3ea3855a7f640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8b7770f7454b93" /><Relationship Type="http://schemas.openxmlformats.org/officeDocument/2006/relationships/notesMaster" Target="/ppt/notesMasters/notesMaster1.xml" Id="R2ff280dceb3441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78acdea2b24e46" /><Relationship Type="http://schemas.openxmlformats.org/officeDocument/2006/relationships/notesMaster" Target="/ppt/notesMasters/notesMaster1.xml" Id="R87b0f046c0814b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41abb8df634a98" /><Relationship Type="http://schemas.openxmlformats.org/officeDocument/2006/relationships/notesMaster" Target="/ppt/notesMasters/notesMaster1.xml" Id="Rfb34e596a31f47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620c5f5d864c1a" /><Relationship Type="http://schemas.openxmlformats.org/officeDocument/2006/relationships/notesMaster" Target="/ppt/notesMasters/notesMaster1.xml" Id="Re5f8a7ca2e6e4d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965c3caac24f42" /><Relationship Type="http://schemas.openxmlformats.org/officeDocument/2006/relationships/notesMaster" Target="/ppt/notesMasters/notesMaster1.xml" Id="R91a1f0bc04c742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представить проект как воспроизводимый научный пайплайн, а не как художественную демо-работу.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/Users/ivanvlasenko/Documents/diplom/biosonification/SCIENTIFIC_ARTICLE_AND_TALK_BASE.md</a:t>
            </a:r>
          </a:p>
          <a:p xmlns:a="http://schemas.openxmlformats.org/drawingml/2006/main">
            <a:r>
              <a:t>- /Users/ivanvlasenko/Documents/diplom/biosonification/docs/architecture_and_science.md</a:t>
            </a:r>
          </a:p>
          <a:p xmlns:a="http://schemas.openxmlformats.org/drawingml/2006/main">
            <a:r>
              <a:t>- /Users/ivanvlasenko/Documents/diplom/biosonification/results/full_paired_run/final_report.json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Подать проект как интересный и перспективный способ воспринимать биоданные на слух: это дополнительный канал анализа и способ сделать тему понятнее неспециалисту.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/Users/ivanvlasenko/Documents/diplom/biosonification/README.md</a:t>
            </a:r>
          </a:p>
          <a:p xmlns:a="http://schemas.openxmlformats.org/drawingml/2006/main">
            <a:r>
              <a:t>- /Users/ivanvlasenko/Documents/diplom/biosonification/docs/architecture_and_science.md</a:t>
            </a:r>
          </a:p>
          <a:p xmlns:a="http://schemas.openxmlformats.org/drawingml/2006/main">
            <a:r>
              <a:t>- /Users/ivanvlasenko/Documents/diplom/biosonification/SCIENTIFIC_ARTICLE_AND_TALK_BASE.md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Провести аудиторию через весь путь: сначала как мы делаем биоданные слышимыми, потом как проверяем, что этот путь не декоративный.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/Users/ivanvlasenko/Documents/diplom/biosonification/README.md</a:t>
            </a:r>
          </a:p>
          <a:p xmlns:a="http://schemas.openxmlformats.org/drawingml/2006/main">
            <a:r>
              <a:t>- /Users/ivanvlasenko/Documents/diplom/biosonification/docs/architecture_and_science.md</a:t>
            </a:r>
          </a:p>
          <a:p xmlns:a="http://schemas.openxmlformats.org/drawingml/2006/main">
            <a:r>
              <a:t>- /Users/ivanvlasenko/Documents/diplom/biosonification/SCIENTIFIC_ARTICLE_AND_TALK_BASE.md</a:t>
            </a:r>
          </a:p>
          <a:p xmlns:a="http://schemas.openxmlformats.org/drawingml/2006/main">
            <a:r>
              <a:t>- /Users/ivanvlasenko/Documents/diplom/biosonification/results/full_paired_run/final_report.json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Объяснить эксперимент простым языком: что именно считается из FASTA и почему paired-протокол нужен, если мы хотим действительно проверять идею слушания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/Users/ivanvlasenko/Documents/diplom/biosonification/SCIENTIFIC_ARTICLE_AND_TALK_BASE.md</a:t>
            </a:r>
          </a:p>
          <a:p xmlns:a="http://schemas.openxmlformats.org/drawingml/2006/main">
            <a:r>
              <a:t>- /Users/ivanvlasenko/Documents/diplom/biosonification/results/full_paired_run/final_report.json</a:t>
            </a:r>
          </a:p>
          <a:p xmlns:a="http://schemas.openxmlformats.org/drawingml/2006/main">
            <a:r>
              <a:t>- /Users/ivanvlasenko/Documents/diplom/biosonification/results/full_paired_run/reports/evaluation_results.json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Пояснить обучение на интуитивном уровне: токены, следующий шаг, cross-entropy и зачем нужен auxiliary-компонент в функции потерь.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/Users/ivanvlasenko/Documents/diplom/biosonification/README.md</a:t>
            </a:r>
          </a:p>
          <a:p xmlns:a="http://schemas.openxmlformats.org/drawingml/2006/main">
            <a:r>
              <a:t>- /Users/ivanvlasenko/Documents/diplom/biosonification/docs/architecture_and_science.md</a:t>
            </a:r>
          </a:p>
          <a:p xmlns:a="http://schemas.openxmlformats.org/drawingml/2006/main">
            <a:r>
              <a:t>- /Users/ivanvlasenko/Documents/diplom/biosonification/results/full_paired_run/final_report.json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Объяснить оценку как два понятных вопроса: стала ли музыка лучше и сохранился ли в ней след биоданных, который нельзя списать на случайность.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/Users/ivanvlasenko/Documents/diplom/biosonification/SCIENTIFIC_ARTICLE_AND_TALK_BASE.md</a:t>
            </a:r>
          </a:p>
          <a:p xmlns:a="http://schemas.openxmlformats.org/drawingml/2006/main">
            <a:r>
              <a:t>- /Users/ivanvlasenko/Documents/diplom/biosonification/results/full_paired_run/final_report.json</a:t>
            </a:r>
          </a:p>
          <a:p xmlns:a="http://schemas.openxmlformats.org/drawingml/2006/main">
            <a:r>
              <a:t>- /Users/ivanvlasenko/Documents/diplom/biosonification/results/full_paired_run/reports/evaluation_results.json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одновременно сильный и слабый результат: H1 поддержана, H2 пока нет. Это делает вывод честным и научно добросовестным.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/Users/ivanvlasenko/Documents/diplom/biosonification/SCIENTIFIC_ARTICLE_AND_TALK_BASE.md</a:t>
            </a:r>
          </a:p>
          <a:p xmlns:a="http://schemas.openxmlformats.org/drawingml/2006/main">
            <a:r>
              <a:t>- /Users/ivanvlasenko/Documents/diplom/biosonification/results/full_paired_run/final_report.json</a:t>
            </a:r>
          </a:p>
          <a:p xmlns:a="http://schemas.openxmlformats.org/drawingml/2006/main">
            <a:r>
              <a:t>- /Users/ivanvlasenko/Documents/diplom/biosonification/results/full_paired_run/reports/evaluation_results.json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Замкнуть рассказ обратно к проблеме слайда 2: проект уже показывает, зачем слушать биоданные, но честно оставляет открытым вопрос о силе переноса информации.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/Users/ivanvlasenko/Documents/diplom/biosonification/README.md</a:t>
            </a:r>
          </a:p>
          <a:p xmlns:a="http://schemas.openxmlformats.org/drawingml/2006/main">
            <a:r>
              <a:t>- /Users/ivanvlasenko/Documents/diplom/biosonification/SCIENTIFIC_ARTICLE_AND_TALK_BASE.md</a:t>
            </a:r>
          </a:p>
          <a:p xmlns:a="http://schemas.openxmlformats.org/drawingml/2006/main">
            <a:r>
              <a:t>- /Users/ivanvlasenko/Documents/diplom/biosonification/results/full_paired_run/final_report.json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4ff4447a44a7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CB75CD80-0941-4A8B-9867-DBA55AF4E68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CA0A1420-24BE-41F8-975E-59FD2D400C9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F9A188-5224-41E4-9D36-B00051900E8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CBAFB9-F7E7-45E6-89D2-DE92D6BE9A5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910869-99A0-4E5F-8C7D-D84BECF6FD7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193f5f3789345b0" /><Relationship Type="http://schemas.openxmlformats.org/officeDocument/2006/relationships/slideLayout" Target="/ppt/slideLayouts/slideLayout2.xml" Id="R0f0d47a160474c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6506886-7496-4CC5-9033-CB4C90AAF0E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0d47a160474c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dd0893716d4626" /><Relationship Type="http://schemas.openxmlformats.org/officeDocument/2006/relationships/notesSlide" Target="/ppt/notesSlides/notesSlide1.xml" Id="R72f035847ebe46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dbab29a0224f5d" /><Relationship Type="http://schemas.openxmlformats.org/officeDocument/2006/relationships/notesSlide" Target="/ppt/notesSlides/notesSlide2.xml" Id="R38d299440c7246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5cc50f47bd438c" /><Relationship Type="http://schemas.openxmlformats.org/officeDocument/2006/relationships/notesSlide" Target="/ppt/notesSlides/notesSlide3.xml" Id="R9391887641964d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e3527144d14b8a" /><Relationship Type="http://schemas.openxmlformats.org/officeDocument/2006/relationships/chart" Target="/ppt/slides/charts/chart1.xml" Id="R2e5df721b0f74dd1" /><Relationship Type="http://schemas.openxmlformats.org/officeDocument/2006/relationships/notesSlide" Target="/ppt/notesSlides/notesSlide4.xml" Id="R081f2dac8c8c4e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3a8439fc9a46cd" /><Relationship Type="http://schemas.openxmlformats.org/officeDocument/2006/relationships/notesSlide" Target="/ppt/notesSlides/notesSlide5.xml" Id="Rf5ccbb42bb264e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5689e65fb54637" /><Relationship Type="http://schemas.openxmlformats.org/officeDocument/2006/relationships/notesSlide" Target="/ppt/notesSlides/notesSlide6.xml" Id="R9e34481db1e444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9c5dbb43de4e5d" /><Relationship Type="http://schemas.openxmlformats.org/officeDocument/2006/relationships/chart" Target="/ppt/slides/charts/chart2.xml" Id="R77a0b999b0014dff" /><Relationship Type="http://schemas.openxmlformats.org/officeDocument/2006/relationships/chart" Target="/ppt/slides/charts/chart3.xml" Id="R0cd6bea155d144e9" /><Relationship Type="http://schemas.openxmlformats.org/officeDocument/2006/relationships/notesSlide" Target="/ppt/notesSlides/notesSlide7.xml" Id="R5ff1a1b6883a48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acc5ba55d74924" /><Relationship Type="http://schemas.openxmlformats.org/officeDocument/2006/relationships/notesSlide" Target="/ppt/notesSlides/notesSlide8.xml" Id="Rfb0c27fcad084076" /></Relationships>
</file>

<file path=ppt/slides/charts/chart1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Samples</c:v>
          </c:tx>
          <c:spPr>
            <a:solidFill xmlns:a="http://schemas.openxmlformats.org/drawingml/2006/main">
              <a:srgbClr val="0F8B8D"/>
            </a:solidFill>
            <a:ln xmlns:a="http://schemas.openxmlformats.org/drawingml/2006/main" w="14288">
              <a:solidFill>
                <a:srgbClr val="0F8B8D"/>
              </a:solidFill>
              <a:prstDash val="solid"/>
            </a:ln>
          </c:spPr>
          <c:cat>
            <c:strLit>
              <c:ptCount val="3"/>
              <c:pt idx="0">
                <c:v>Обучение</c:v>
              </c:pt>
              <c:pt idx="1">
                <c:v>Валидация</c:v>
              </c:pt>
              <c:pt idx="2">
                <c:v>Тест</c:v>
              </c:pt>
            </c:strLit>
          </c:cat>
          <c:val>
            <c:numLit>
              <c:formatCode/>
              <c:ptCount val="3"/>
              <c:pt idx="0">
                <c:v>303</c:v>
              </c:pt>
              <c:pt idx="1">
                <c:v>65</c:v>
              </c:pt>
              <c:pt idx="2">
                <c:v>66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11315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D3135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D3135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>
            <a:alpha val="0"/>
          </a:srgbClr>
        </a:solidFill>
      </c:spPr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С управлением</c:v>
          </c:tx>
          <c:spPr>
            <a:solidFill xmlns:a="http://schemas.openxmlformats.org/drawingml/2006/main">
              <a:srgbClr val="0F8B8D"/>
            </a:solidFill>
            <a:ln xmlns:a="http://schemas.openxmlformats.org/drawingml/2006/main" w="14288">
              <a:solidFill>
                <a:srgbClr val="0F8B8D"/>
              </a:solidFill>
              <a:prstDash val="solid"/>
            </a:ln>
          </c:spPr>
          <c:cat>
            <c:strLit>
              <c:ptCount val="1"/>
              <c:pt idx="0">
                <c:v>Качество</c:v>
              </c:pt>
            </c:strLit>
          </c:cat>
          <c:val>
            <c:numLit>
              <c:formatCode/>
              <c:ptCount val="1"/>
              <c:pt idx="0">
                <c:v>0.6587</c:v>
              </c:pt>
            </c:numLit>
          </c:val>
        </c:ser>
        <c:ser>
          <c:idx val="1"/>
          <c:order val="1"/>
          <c:tx>
            <c:v>Без управления</c:v>
          </c:tx>
          <c:spPr>
            <a:solidFill xmlns:a="http://schemas.openxmlformats.org/drawingml/2006/main">
              <a:srgbClr val="C9CED4"/>
            </a:solidFill>
            <a:ln xmlns:a="http://schemas.openxmlformats.org/drawingml/2006/main" w="14288">
              <a:solidFill>
                <a:srgbClr val="C9CED4"/>
              </a:solidFill>
              <a:prstDash val="solid"/>
            </a:ln>
          </c:spPr>
          <c:cat>
            <c:strLit>
              <c:ptCount val="1"/>
              <c:pt idx="0">
                <c:v>Качество</c:v>
              </c:pt>
            </c:strLit>
          </c:cat>
          <c:val>
            <c:numLit>
              <c:formatCode/>
              <c:ptCount val="1"/>
              <c:pt idx="0">
                <c:v>0.6416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11315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D3135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D3135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>
            <a:alpha val="0"/>
          </a:srgbClr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2D3135"/>
              </a:solidFill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title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Poppins"/>
              <a:ea typeface="Poppins"/>
              <a:cs typeface="Poppins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Наблюдаемая</c:v>
          </c:tx>
          <c:spPr>
            <a:solidFill xmlns:a="http://schemas.openxmlformats.org/drawingml/2006/main">
              <a:srgbClr val="0F8B8D"/>
            </a:solidFill>
            <a:ln xmlns:a="http://schemas.openxmlformats.org/drawingml/2006/main" w="14288">
              <a:solidFill>
                <a:srgbClr val="0F8B8D"/>
              </a:solidFill>
              <a:prstDash val="solid"/>
            </a:ln>
          </c:spPr>
          <c:cat>
            <c:strLit>
              <c:ptCount val="1"/>
              <c:pt idx="0">
                <c:v>Точность</c:v>
              </c:pt>
            </c:strLit>
          </c:cat>
          <c:val>
            <c:numLit>
              <c:formatCode/>
              <c:ptCount val="1"/>
              <c:pt idx="0">
                <c:v>0.4</c:v>
              </c:pt>
            </c:numLit>
          </c:val>
        </c:ser>
        <c:ser>
          <c:idx val="1"/>
          <c:order val="1"/>
          <c:tx>
            <c:v>Случайный уровень</c:v>
          </c:tx>
          <c:spPr>
            <a:solidFill xmlns:a="http://schemas.openxmlformats.org/drawingml/2006/main">
              <a:srgbClr val="C9CED4"/>
            </a:solidFill>
            <a:ln xmlns:a="http://schemas.openxmlformats.org/drawingml/2006/main" w="14288">
              <a:solidFill>
                <a:srgbClr val="C9CED4"/>
              </a:solidFill>
              <a:prstDash val="solid"/>
            </a:ln>
          </c:spPr>
          <c:cat>
            <c:strLit>
              <c:ptCount val="1"/>
              <c:pt idx="0">
                <c:v>Точность</c:v>
              </c:pt>
            </c:strLit>
          </c:cat>
          <c:val>
            <c:numLit>
              <c:formatCode/>
              <c:ptCount val="1"/>
              <c:pt idx="0">
                <c:v>0.333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111315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D3135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D3135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>
            <a:alpha val="0"/>
          </a:srgbClr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2D3135"/>
              </a:solidFill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910869-99A0-4E5F-8C7D-D84BECF6FD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5899E-68F6-4110-B961-9D00B6B2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</a:defRPr>
            </a:pPr>
            <a:r>
              <a:rPr sz="900" b="1">
                <a:solidFill>
                  <a:srgbClr val="0F8B8D"/>
                </a:solidFill>
              </a:rPr>
              <a:t>Научная конференция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1EAF5-E4D9-4A43-A1F6-B5B256B7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315"/>
                </a:solidFill>
              </a:defRPr>
            </a:pPr>
            <a:r>
              <a:rPr sz="3600" b="1">
                <a:solidFill>
                  <a:srgbClr val="111315"/>
                </a:solidFill>
              </a:rPr>
              <a:t>BioSonification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24F20-C48B-41BD-9B08-A1C30C2E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42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D3135"/>
                </a:solidFill>
              </a:defRPr>
            </a:pPr>
            <a:r>
              <a:rPr sz="1650" b="0">
                <a:solidFill>
                  <a:srgbClr val="2D3135"/>
                </a:solidFill>
              </a:rPr>
              <a:t>Биосонификация: генерация символической музыки</a:t>
            </a:r>
          </a:p>
          <a:p xmlns:a="http://schemas.openxmlformats.org/drawingml/2006/main">
            <a:pPr algn="l">
              <a:defRPr sz="1650" b="0">
                <a:solidFill>
                  <a:srgbClr val="2D3135"/>
                </a:solidFill>
              </a:defRPr>
            </a:pPr>
            <a:r>
              <a:rPr sz="1650" b="0">
                <a:solidFill>
                  <a:srgbClr val="2D3135"/>
                </a:solidFill>
              </a:rPr>
              <a:t>по признакам биологических последовательностей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40B36-3231-4B2F-86DA-69A7D364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973DC-689E-4A5F-8602-3CED1BED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38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A737B"/>
                </a:solidFill>
              </a:defRPr>
            </a:pPr>
            <a:r>
              <a:rPr sz="1275" b="0">
                <a:solidFill>
                  <a:srgbClr val="6A737B"/>
                </a:solidFill>
              </a:rPr>
              <a:t>Воспроизводимый конвейер (pipeline):</a:t>
            </a:r>
          </a:p>
          <a:p xmlns:a="http://schemas.openxmlformats.org/drawingml/2006/main">
            <a:pPr algn="l">
              <a:defRPr sz="1275" b="0">
                <a:solidFill>
                  <a:srgbClr val="6A737B"/>
                </a:solidFill>
              </a:defRPr>
            </a:pPr>
            <a:r>
              <a:rPr sz="1275" b="0">
                <a:solidFill>
                  <a:srgbClr val="6A737B"/>
                </a:solidFill>
              </a:rPr>
              <a:t>FASTA -&gt; биовектор -&gt; Transformer (трансформер) -&gt; MIDI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F2E88-6DE5-4220-A044-9A7BA3D7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552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7227E-F655-4AAB-9ACF-2A22CFA8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552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0E01C-F36B-4531-9C01-81323B74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2000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6E2F5-D993-4C9C-B8F1-FA7C8727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FASTA-последовательностей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EB0E6-CFED-4F9C-AFCF-43F17497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14800"/>
            <a:ext cx="2552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9F3E3-BBC0-4D44-8987-5DB484D1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14800"/>
            <a:ext cx="2552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D1C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9F3D6-A9FE-4904-BD62-C1F872A2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434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C6370-A888-4CA5-8C37-D3E4B1E7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482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пар MIDI↔биовектор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DA321-F0E7-48FB-8293-E1885D1F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2552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49C00-3014-4447-A2C9-AEAD945E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2552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4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F3332-7B81-4CCC-8982-D50853E1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H1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D9D18-614F-4F05-B788-ECB8411B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482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подтверждена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C6FB9-2AD0-48BC-8FCB-66DB7231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14800"/>
            <a:ext cx="2552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F281E-0D70-44A4-916C-4443BBAB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14800"/>
            <a:ext cx="2552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A4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9F3E5-1070-4841-AC82-0E6B1BA2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86250"/>
            <a:ext cx="2247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H2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377CE-22F2-4356-8F3E-4A74963E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482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не подтверждена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30D5CF-5411-4F29-911F-BF6D12EA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737B"/>
                </a:solidFill>
              </a:defRPr>
            </a:pPr>
            <a:r>
              <a:rPr sz="900" b="0">
                <a:solidFill>
                  <a:srgbClr val="6A737B"/>
                </a:solidFill>
              </a:rPr>
              <a:t>Проект оценивает биопризнаки как структурный управляющий сигнал, а не как причинное объяснение музыки.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9B6913-14F8-4C38-9936-1CC5ECAB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9055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A737B"/>
                </a:solidFill>
              </a:defRPr>
            </a:pPr>
            <a:r>
              <a:rPr sz="900" b="1">
                <a:solidFill>
                  <a:srgbClr val="6A737B"/>
                </a:solidFill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2574685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910869-99A0-4E5F-8C7D-D84BECF6FD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74478-5EFB-4AFB-8B34-130D7267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</a:defRPr>
            </a:pPr>
            <a:r>
              <a:rPr sz="900" b="1">
                <a:solidFill>
                  <a:srgbClr val="0F8B8D"/>
                </a:solidFill>
              </a:rPr>
              <a:t>BioSonification (биосонификация)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1DA9C-F445-4513-B201-04E987E6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A737B"/>
                </a:solidFill>
              </a:defRPr>
            </a:pPr>
            <a:r>
              <a:rPr sz="900" b="1">
                <a:solidFill>
                  <a:srgbClr val="6A737B"/>
                </a:solidFill>
              </a:rPr>
              <a:t>02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5AB26-807F-4ABE-888F-4621C89E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BFBB5-7A31-4AE4-86F7-0DF922C3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5"/>
                </a:solidFill>
              </a:defRPr>
            </a:pPr>
            <a:r>
              <a:rPr sz="2550" b="1">
                <a:solidFill>
                  <a:srgbClr val="111315"/>
                </a:solidFill>
              </a:rPr>
              <a:t>Почему это интересно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475AA-E364-4F1A-BA2B-B8273981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</a:defRPr>
            </a:pPr>
            <a:r>
              <a:rPr sz="1350" b="0">
                <a:solidFill>
                  <a:srgbClr val="6A737B"/>
                </a:solidFill>
              </a:rPr>
              <a:t>Сонификация позволяет посмотреть на биоданные ушами и добавить к визуальному анализу еще один канал восприятия.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CE2BA-CE98-401E-8283-B258BCCD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3053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040CF-CE5D-46FF-A0BA-C08E6309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71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E45F7-B17D-4D95-99B1-0ACD65F8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96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Идея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31383-30F7-497B-9637-2BC2EE2E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3962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Биоданные можно не только читать и визуализировать, но и слушать.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Если переводить их структуру в музыку, появляется новый способ замечать форму, ритм, повторяемость и вариативность последовательностей.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0DDC4-F8E0-47CB-A11C-6A36D7EA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4100"/>
            <a:ext cx="6286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9398F-7F19-4392-92D0-70DD1787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41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4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17AA4-C9FA-4161-BEE1-35ACF6A4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76500"/>
            <a:ext cx="594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Слух как дополнительный канал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546C8-7A0B-436D-8368-1120E2AF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19400"/>
            <a:ext cx="5943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Человек может улавливать паттерны, контрасты и повторы на слух иначе, чем на графике. Это не замена визуализации, а ее дополнение.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FC962-9DE6-4C2C-93C9-786DC3E1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57600"/>
            <a:ext cx="6286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A1DF2F-197A-4957-9F57-E88D2C65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576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A4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F286D-FE80-4545-AEDA-FFA61B28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10000"/>
            <a:ext cx="594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Понятно даже неспециалисту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A66D8-56D3-43D9-834A-223B263A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52900"/>
            <a:ext cx="5943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Человек без подготовки в биоинформатике через сонификацию тоже может почувствовать различия между последовательностями и получить интуитивное представление об их устройстве.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43EF5-150F-4973-9B99-9FA0CC5F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1471F5-A132-4435-A098-8BD80B7A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932F0-709F-41CB-A635-A3782DF5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047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Почему это перспективно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4ACC3-A63B-4F5C-8E23-12C245D0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135"/>
                </a:solidFill>
              </a:defRPr>
            </a:pPr>
            <a:r>
              <a:rPr sz="1125" b="0">
                <a:solidFill>
                  <a:srgbClr val="2D3135"/>
                </a:solidFill>
              </a:rPr>
              <a:t>Сонификация может быть полезна для exploratory analysis, образования и научной коммуникации: она делает сложные данные ближе к человеческому восприятию.</a:t>
            </a:r>
          </a:p>
        </p:txBody>
      </p:sp>
    </p:spTree>
    <p:extLst>
      <p:ext uri="{BB962C8B-B14F-4D97-AF65-F5344CB8AC3E}">
        <p14:creationId xmlns:p14="http://schemas.microsoft.com/office/powerpoint/2010/main" val="338994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910869-99A0-4E5F-8C7D-D84BECF6FD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163D1-C3DE-4AFF-90F7-F64C3145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</a:defRPr>
            </a:pPr>
            <a:r>
              <a:rPr sz="900" b="1">
                <a:solidFill>
                  <a:srgbClr val="0F8B8D"/>
                </a:solidFill>
              </a:rPr>
              <a:t>BioSonification (биосонификация)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C9A6F-8250-46CC-9CE2-B48413F5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A737B"/>
                </a:solidFill>
              </a:defRPr>
            </a:pPr>
            <a:r>
              <a:rPr sz="900" b="1">
                <a:solidFill>
                  <a:srgbClr val="6A737B"/>
                </a:solidFill>
              </a:rPr>
              <a:t>03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07B1A-63BA-4AEC-A11E-70B894EE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DAEC2-17C1-4662-8A51-C96EA523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5"/>
                </a:solidFill>
              </a:defRPr>
            </a:pPr>
            <a:r>
              <a:rPr sz="2550" b="1">
                <a:solidFill>
                  <a:srgbClr val="111315"/>
                </a:solidFill>
              </a:rPr>
              <a:t>Пайплайн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4AD31-A171-4604-BC65-3A6CDB15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</a:defRPr>
            </a:pPr>
            <a:r>
              <a:rPr sz="1350" b="0">
                <a:solidFill>
                  <a:srgbClr val="6A737B"/>
                </a:solidFill>
              </a:rPr>
              <a:t>Чтобы биоданные можно было не только видеть, но и осмысленно слушать, проект проходит путь от последовательности к музыке и затем к статистической проверке.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CD521-B962-4C94-B264-7BE69D14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AA51C-BB3A-4151-A84F-ED6C996D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8B8D"/>
                </a:solidFill>
              </a:defRPr>
            </a:pPr>
            <a:r>
              <a:rPr sz="2550" b="1">
                <a:solidFill>
                  <a:srgbClr val="0F8B8D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A0576-7C30-4376-93C5-01BFCFDB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812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F14C9-9924-4E73-95DC-149BB448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62200"/>
            <a:ext cx="960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5"/>
                </a:solidFill>
              </a:defRPr>
            </a:pPr>
            <a:r>
              <a:rPr sz="1350" b="1">
                <a:solidFill>
                  <a:srgbClr val="111315"/>
                </a:solidFill>
              </a:rPr>
              <a:t>FASTA -&gt; биовектор 128D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5E9CB-7423-4821-9DDF-7219F1AE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67000"/>
            <a:ext cx="960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D3135"/>
                </a:solidFill>
              </a:defRPr>
            </a:pPr>
            <a:r>
              <a:rPr sz="1050" b="0">
                <a:solidFill>
                  <a:srgbClr val="2D3135"/>
                </a:solidFill>
              </a:rPr>
              <a:t>Последовательность очищается до A/C/G/T. Затем считаются частоты нуклеотидов, энтропия Шеннона, skew-метрики и k-mer признаки.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33694-8DAF-47E9-9AA4-1A370B43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30A27-9152-40E4-A15B-1F8508C0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8B8D"/>
                </a:solidFill>
              </a:defRPr>
            </a:pPr>
            <a:r>
              <a:rPr sz="2550" b="1">
                <a:solidFill>
                  <a:srgbClr val="0F8B8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1CC20-2CCC-477E-8161-E3B68611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147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46EA6-9E9B-484B-A8A9-9671D735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5650"/>
            <a:ext cx="960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5"/>
                </a:solidFill>
              </a:defRPr>
            </a:pPr>
            <a:r>
              <a:rPr sz="1350" b="1">
                <a:solidFill>
                  <a:srgbClr val="111315"/>
                </a:solidFill>
              </a:rPr>
              <a:t>Детерминированная сонификация -&gt; управляющий вектор (conditioning) 24D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E3B81-5A39-42DC-9895-F81B14F7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00450"/>
            <a:ext cx="960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D3135"/>
                </a:solidFill>
              </a:defRPr>
            </a:pPr>
            <a:r>
              <a:rPr sz="1050" b="0">
                <a:solidFill>
                  <a:srgbClr val="2D3135"/>
                </a:solidFill>
              </a:rPr>
              <a:t>Биопризнаки переводятся в музыкальные параметры: тональность, темп, диапазон высот, ритм, лад и артикуляцию.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3960A7-A0CB-4912-9AD8-26D75DB8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90F4D-8B74-4C91-B309-6DB93100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8B8D"/>
                </a:solidFill>
              </a:defRPr>
            </a:pPr>
            <a:r>
              <a:rPr sz="2550" b="1">
                <a:solidFill>
                  <a:srgbClr val="0F8B8D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16194-6C47-427E-B98A-93FDF11E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481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E6897-B55D-4FE5-9628-006C9047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60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5"/>
                </a:solidFill>
              </a:defRPr>
            </a:pPr>
            <a:r>
              <a:rPr sz="1350" b="1">
                <a:solidFill>
                  <a:srgbClr val="111315"/>
                </a:solidFill>
              </a:rPr>
              <a:t>Парный датасет (paired dataset)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549C9-C566-4C9B-A7C9-C0753B69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33900"/>
            <a:ext cx="960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D3135"/>
                </a:solidFill>
              </a:defRPr>
            </a:pPr>
            <a:r>
              <a:rPr sz="1050" b="0">
                <a:solidFill>
                  <a:srgbClr val="2D3135"/>
                </a:solidFill>
              </a:rPr>
              <a:t>434 пары MIDI↔биовектор, разбиение 303 / 65 / 66 и контроль утечки данных. Это делает сравнение честным и воспроизводимым.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108507-E171-4829-AE7E-42D27E01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848C3-1A99-4002-938B-80B531AA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8B8D"/>
                </a:solidFill>
              </a:defRPr>
            </a:pPr>
            <a:r>
              <a:rPr sz="2550" b="1">
                <a:solidFill>
                  <a:srgbClr val="0F8B8D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587527-1981-4982-B654-22B7AF78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816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A45813-0916-4C87-AE3D-A61EC35B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62550"/>
            <a:ext cx="960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5"/>
                </a:solidFill>
              </a:defRPr>
            </a:pPr>
            <a:r>
              <a:rPr sz="1350" b="1">
                <a:solidFill>
                  <a:srgbClr val="111315"/>
                </a:solidFill>
              </a:rPr>
              <a:t>Transformer (трансформер) с биоуправлением (bio-conditioning)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E39516-BDBB-4A1C-BCD2-4965F05A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67350"/>
            <a:ext cx="960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D3135"/>
                </a:solidFill>
              </a:defRPr>
            </a:pPr>
            <a:r>
              <a:rPr sz="1050" b="0">
                <a:solidFill>
                  <a:srgbClr val="2D3135"/>
                </a:solidFill>
              </a:rPr>
              <a:t>Модель учится продолжать MIDI-последовательность, используя биовектор как внешний управляющий сигнал.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7B74FC-6E35-4476-BE93-FC20291D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F58086-CC46-461E-883A-BA2D44AA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7695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8B8D"/>
                </a:solidFill>
              </a:defRPr>
            </a:pPr>
            <a:r>
              <a:rPr sz="2550" b="1">
                <a:solidFill>
                  <a:srgbClr val="0F8B8D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2F12D7-446D-4595-B9B0-FEEBFD28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1150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7AEE65-945E-47A4-8DF5-00E6E3C1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96000"/>
            <a:ext cx="960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315"/>
                </a:solidFill>
              </a:defRPr>
            </a:pPr>
            <a:r>
              <a:rPr sz="1350" b="1">
                <a:solidFill>
                  <a:srgbClr val="111315"/>
                </a:solidFill>
              </a:rPr>
              <a:t>Формальная оценка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31C3D3-7129-411E-BFE5-25223733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400800"/>
            <a:ext cx="960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D3135"/>
                </a:solidFill>
              </a:defRPr>
            </a:pPr>
            <a:r>
              <a:rPr sz="1050" b="0">
                <a:solidFill>
                  <a:srgbClr val="2D3135"/>
                </a:solidFill>
              </a:rPr>
              <a:t>Сначала спрашиваем, стала ли музыка лучше. Затем проверяем, сохранился ли в ней след биоданных. Оба вопроса решаются статистически.</a:t>
            </a:r>
          </a:p>
        </p:txBody>
      </p:sp>
    </p:spTree>
    <p:extLst>
      <p:ext uri="{BB962C8B-B14F-4D97-AF65-F5344CB8AC3E}">
        <p14:creationId xmlns:p14="http://schemas.microsoft.com/office/powerpoint/2010/main" val="17060712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910869-99A0-4E5F-8C7D-D84BECF6FD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C2EC3-8DDA-4CE7-B094-10E78446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</a:defRPr>
            </a:pPr>
            <a:r>
              <a:rPr sz="900" b="1">
                <a:solidFill>
                  <a:srgbClr val="0F8B8D"/>
                </a:solidFill>
              </a:rPr>
              <a:t>BioSonification (биосонификация)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FBF53-F247-453B-AE79-8AE66507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A737B"/>
                </a:solidFill>
              </a:defRPr>
            </a:pPr>
            <a:r>
              <a:rPr sz="900" b="1">
                <a:solidFill>
                  <a:srgbClr val="6A737B"/>
                </a:solidFill>
              </a:rPr>
              <a:t>04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C4773-3B20-4A0B-BF9D-6D3C0336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61377-8672-4EA2-AD16-87C096D8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5"/>
                </a:solidFill>
              </a:defRPr>
            </a:pPr>
            <a:r>
              <a:rPr sz="2550" b="1">
                <a:solidFill>
                  <a:srgbClr val="111315"/>
                </a:solidFill>
              </a:rPr>
              <a:t>Как поставлен эксперимент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22993-3DD3-4841-9C92-A4E7BB04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</a:defRPr>
            </a:pPr>
            <a:r>
              <a:rPr sz="1350" b="0">
                <a:solidFill>
                  <a:srgbClr val="6A737B"/>
                </a:solidFill>
              </a:rPr>
              <a:t>Если мы хотим понять, можно ли слушать биоданные, нужен честный парный протокол: с формулами, разбиением и контролем утечки, а не просто набор красивых примеров.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AFD5C-0887-4D26-8811-6BE8BE3C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362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1FE5A-7DBF-4393-83EA-C2942D19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A3E4D-B545-4EC4-AA01-EB95B6AD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2000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591F9-4DA6-45D8-9187-85F207AE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FASTA-</a:t>
            </a:r>
          </a:p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последовательностей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69CF9-A01B-45BF-BB09-4F66E503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28850"/>
            <a:ext cx="2362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40C1C-2424-43C7-8022-A5DE2E75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2885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D1C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76E3C-5BB0-4018-AF2A-BAD9E554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434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82476-9802-4F3C-A7CA-311ECDAB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пар MIDI↔биовектор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895E2-8E38-48B1-A8E0-07F964EE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8850"/>
            <a:ext cx="2362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6ED50-DA27-418F-A4B5-AE931D77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885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4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D24F6-F2CE-42AC-A83B-6E3A2AEE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03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303 / 65 / 66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3CFD4-098D-4011-B1E2-82754E87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622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разбиение</a:t>
            </a:r>
          </a:p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train / val /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6E459-5D71-4AF4-9E27-909DC786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28850"/>
            <a:ext cx="3276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A5092-9CD6-4352-83C4-27C45F81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28850"/>
            <a:ext cx="3276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A4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46DC3-25C8-4696-AB5C-DEDAC634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297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Нет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E653F-C43A-4AC6-94FD-658E4A03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утечки между train и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98440-6FB5-460A-8573-550DCBB6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34671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BB52B7-48D4-42BF-ACAB-A9A72FEF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016166-5967-4F38-9073-8B6E076B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Как FASTA превращается в число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4ABB20-DB01-48C9-89EC-091C67C9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3124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Последовательности очищались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до A/C/G/T.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Дальше считались: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частоты A/C/G/T,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H = -Σ p_i log2 p_i,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GC_skew = (G-C)/(G+C),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AT_skew = (A-T)/(A+T),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k-mers для k = 1, 2, 3.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Итог: биовектор 128D.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0FC954-2AF1-42F0-86DC-C041FC4E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71850"/>
            <a:ext cx="34671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9D935-CC0B-40ED-A16C-BE8A2F5D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05200"/>
            <a:ext cx="3124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37B"/>
                </a:solidFill>
              </a:defRPr>
            </a:pPr>
            <a:r>
              <a:rPr sz="975" b="1">
                <a:solidFill>
                  <a:srgbClr val="6A737B"/>
                </a:solidFill>
              </a:rPr>
              <a:t>Разбиение: обучение / валидация / тест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533900" y="3752850"/>
          <a:ext xmlns:a="http://schemas.openxmlformats.org/drawingml/2006/main" cx="3124200" cy="2114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5df721b0f74dd1"/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B36AB1-F68C-4E8F-A00E-862C8F50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34671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48790D-F22B-42D0-83FF-D027C095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4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C5BC5F-A718-4870-87B5-E0BE3AF6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Как строились пары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2B7F57-F1FD-4BDE-BF4C-539AB55B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3124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Чтобы сравнение было честным,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MIDI и биовекторы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сопоставляли по рангу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сложности.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MIDI_c = 0.6 * pitch_entropy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+ 0.4 * velocity_entropy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Bio_c = var(bio_vector)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+ mean(abs(bio_vector))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Так получались пары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для обучения модели.</a:t>
            </a:r>
          </a:p>
        </p:txBody>
      </p:sp>
    </p:spTree>
    <p:extLst>
      <p:ext uri="{BB962C8B-B14F-4D97-AF65-F5344CB8AC3E}">
        <p14:creationId xmlns:p14="http://schemas.microsoft.com/office/powerpoint/2010/main" val="5127380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910869-99A0-4E5F-8C7D-D84BECF6FD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0B1F3-E829-4AB4-A8C9-083B25AE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</a:defRPr>
            </a:pPr>
            <a:r>
              <a:rPr sz="900" b="1">
                <a:solidFill>
                  <a:srgbClr val="0F8B8D"/>
                </a:solidFill>
              </a:rPr>
              <a:t>BioSonification (биосонификация)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25BEB-2947-49E5-8F4E-C72083CD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A737B"/>
                </a:solidFill>
              </a:defRPr>
            </a:pPr>
            <a:r>
              <a:rPr sz="900" b="1">
                <a:solidFill>
                  <a:srgbClr val="6A737B"/>
                </a:solidFill>
              </a:rPr>
              <a:t>05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856D8-AF04-4C7A-9CE1-CC82C6C7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EB898-4A3B-4265-8C85-556C7341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5"/>
                </a:solidFill>
              </a:defRPr>
            </a:pPr>
            <a:r>
              <a:rPr sz="2550" b="1">
                <a:solidFill>
                  <a:srgbClr val="111315"/>
                </a:solidFill>
              </a:rPr>
              <a:t>Как модель учится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489A1-CBB1-4FF6-99F6-C3EDB4EA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</a:defRPr>
            </a:pPr>
            <a:r>
              <a:rPr sz="1350" b="0">
                <a:solidFill>
                  <a:srgbClr val="6A737B"/>
                </a:solidFill>
              </a:rPr>
              <a:t>Задача модели не в том, чтобы 'угадать геном', а в том, чтобы генерировать осмысленную музыку и использовать биосигнал как дополнительный контекст.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9FBE8-F0B7-4DD7-94F9-2F06FCA6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362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718F6-E3BE-4296-BFCC-F5032025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9CA93-F58F-4B8B-A287-869D5C59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6.28M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D2AF4-025C-4EC8-ABAD-3E135968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параметров модели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995E8-B818-4907-A36A-4753270C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28850"/>
            <a:ext cx="2362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D1C3B-67A1-4B26-818F-23590878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2885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D1C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CD405-C510-415B-B2F5-B3B5E3B1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1CECB-06F9-4206-A014-DDACBEA1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эпох обучения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C0C75-E76E-4B0A-AD79-7F84E184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8850"/>
            <a:ext cx="2362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5C4CE-9467-4600-AA4A-7582B542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885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4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D97FF-9FC7-4EB6-912B-5F4C8A41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03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32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CC20D-994C-4983-A120-E47C62BD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622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размер батча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ADA72-C57C-4EE2-9212-7526AB95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28850"/>
            <a:ext cx="3276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6E0AD-DE74-4581-A2CF-B7462874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28850"/>
            <a:ext cx="3276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A4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3B0FF2-8B4E-406E-91C3-8BFD369F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297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2.9736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47FF0C-5F1A-4F2A-820E-87A710DD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лучшая ошибка на валидации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A42B6-6E80-4901-AF99-C795C556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34671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77B40-4EC1-4A7E-9D0C-FF2CE320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ACA99B-7B47-4AE0-9F32-CEBDAEC4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Что видит модель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8317B-E8B7-4755-AEE6-C0A12AA8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3124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Музыка кодируется как цепочка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из 408 токенов: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NOTE_ON, NOTE_OFF, SHIFT,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VEL и BOS/EOS/PAD.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Биовектор 128D отдельно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сжимается до conditioning 24D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и подмешивается в скрытое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состояние Transformer.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6DF77E-B814-463F-AB00-980A34BE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71850"/>
            <a:ext cx="34671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22603F-FD6B-48CC-9D73-21077330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718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4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54613D-709A-4187-A6EC-9D49C18B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242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Один шаг обучения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AFDDCA-7E48-4296-86D3-69CDDD46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67150"/>
            <a:ext cx="3124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На каждом шаге модель получает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уже начатую MIDI-последовательность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и пытается предсказать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следующий токен.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Если правильный токен получает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высокую вероятность, ошибка мала.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Если нет, веса обновляются.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Так модель постепенно учится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музыкальной структуре.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016118-34B7-43FB-A6D7-252A6080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34671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F8C6E6-9265-4BD8-86B0-D96832B5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A4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405EAA-395E-4595-8B30-659A547D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3124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Функция потерь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9B633B-CC5F-4E47-813C-698CE00D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31242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total_loss = CE(main, target)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+ 0.2 * CE(aux, target)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Cross-entropy штрафует модель,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если она даёт низкую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вероятность правильному токену.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Auxiliary LM с замороженными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весами добавляет регуляризацию.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AdamW, lr = 1e-4,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grad clip = 1.0.</a:t>
            </a:r>
          </a:p>
        </p:txBody>
      </p:sp>
    </p:spTree>
    <p:extLst>
      <p:ext uri="{BB962C8B-B14F-4D97-AF65-F5344CB8AC3E}">
        <p14:creationId xmlns:p14="http://schemas.microsoft.com/office/powerpoint/2010/main" val="1921303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910869-99A0-4E5F-8C7D-D84BECF6FD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E3800-812B-4E51-8C6D-D87E8C6A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</a:defRPr>
            </a:pPr>
            <a:r>
              <a:rPr sz="900" b="1">
                <a:solidFill>
                  <a:srgbClr val="0F8B8D"/>
                </a:solidFill>
              </a:rPr>
              <a:t>BioSonification (биосонификация)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9233A-3A2A-41B2-A2D8-014F1458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A737B"/>
                </a:solidFill>
              </a:defRPr>
            </a:pPr>
            <a:r>
              <a:rPr sz="900" b="1">
                <a:solidFill>
                  <a:srgbClr val="6A737B"/>
                </a:solidFill>
              </a:rPr>
              <a:t>06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2F913-4FAA-4971-BA5F-8DE2E15B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F1609-C88D-4DEA-90A0-C1988EE2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5"/>
                </a:solidFill>
              </a:defRPr>
            </a:pPr>
            <a:r>
              <a:rPr sz="2550" b="1">
                <a:solidFill>
                  <a:srgbClr val="111315"/>
                </a:solidFill>
              </a:rPr>
              <a:t>Как оцениваем 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6AC41-E01F-4447-B293-A2E21023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</a:defRPr>
            </a:pPr>
            <a:r>
              <a:rPr sz="1350" b="0">
                <a:solidFill>
                  <a:srgbClr val="6A737B"/>
                </a:solidFill>
              </a:rPr>
              <a:t>Актуальность проекта именно в проверке: не просто озвучить данные, а понять, слышим ли мы что-то устойчивое и измеримое.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64AFA-8645-4141-8927-4F868484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362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4B170-7D6A-4204-8E11-666D8472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AC535-4153-424D-9B74-EF534F09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37F21-7BD3-416A-BB9F-ACAC794C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режимов генерации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EAB6A-B0E0-425F-B066-49A3A384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28850"/>
            <a:ext cx="2362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942F5-F4D8-4D70-A4B7-F9EB99B8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2885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D1CC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35A25-15AB-4F9C-952B-F3A7DF24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21BC2-35EA-4422-8F48-82665DCF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MIDI на режим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0572B-F0B9-44C5-B9DF-61FF5966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8850"/>
            <a:ext cx="2362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B3901-E468-4922-9B59-A444F853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8850"/>
            <a:ext cx="2362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4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A22FD-6399-4F28-AC62-9902189B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0300"/>
            <a:ext cx="2057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DEF05-DCCB-420F-B64B-E335A48C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622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биокластера для H2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6C7D5-2428-49BF-9BD8-0CD291A5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28850"/>
            <a:ext cx="3276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844260-5503-4572-B9E5-75DA6647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28850"/>
            <a:ext cx="3276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A4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493A8-47FA-4A9F-A83D-125819D6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0300"/>
            <a:ext cx="2971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5"/>
                </a:solidFill>
              </a:defRPr>
            </a:pPr>
            <a:r>
              <a:rPr sz="2100" b="1">
                <a:solidFill>
                  <a:srgbClr val="111315"/>
                </a:solidFill>
              </a:rPr>
              <a:t>1000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50ED8F-BA83-444B-B22D-3038336B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A737B"/>
                </a:solidFill>
              </a:defRPr>
            </a:pPr>
            <a:r>
              <a:rPr sz="975" b="0">
                <a:solidFill>
                  <a:srgbClr val="6A737B"/>
                </a:solidFill>
              </a:rPr>
              <a:t>перестановок в тесте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76DE4B-0E82-45F6-A7E6-6E567E37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2197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EC99D-3066-45F3-A1CC-21E12EC4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6F248-A5F3-4F68-A8D1-22CCCB02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87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H1: музыка стала лучше?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FAA139-FC0C-4DEF-9B98-227C87BF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48768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Считаются четыре ядра качества: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тональность, ритм,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мелодика, гармония.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Отдельно считается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структурное качество: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есть ли нотная активность,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баланс NOTE_ON/OFF,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разнообразие токенов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и корректный EOS.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Финальный балл =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0.8 * mean(core)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+ 0.2 * structural_quality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EAC0EA-2E94-44B3-95FA-B7FF08A4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71850"/>
            <a:ext cx="5372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4DE328-9957-4505-910E-48B925CA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718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4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CACD64-742B-481D-991D-C0C3A284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24250"/>
            <a:ext cx="502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H2: музыка несёт след биоданных?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8AA66E-1347-48A0-8D9D-A9C9FEC7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67150"/>
            <a:ext cx="5029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Биовекторы делятся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на 3 кластера.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Из музыки берутся признаки: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плотность, высота,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разброс высот,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средняя громкость и SHIFT.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Классификатор по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кросс-валидации пытается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восстановить номер кластера.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Потом permutation test проверяет,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не случайна ли эта точность.</a:t>
            </a:r>
          </a:p>
        </p:txBody>
      </p:sp>
    </p:spTree>
    <p:extLst>
      <p:ext uri="{BB962C8B-B14F-4D97-AF65-F5344CB8AC3E}">
        <p14:creationId xmlns:p14="http://schemas.microsoft.com/office/powerpoint/2010/main" val="7206160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910869-99A0-4E5F-8C7D-D84BECF6FD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D2C57-453D-44DE-9FAB-615FD811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</a:defRPr>
            </a:pPr>
            <a:r>
              <a:rPr sz="900" b="1">
                <a:solidFill>
                  <a:srgbClr val="0F8B8D"/>
                </a:solidFill>
              </a:rPr>
              <a:t>BioSonification (биосонификация)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3C4EB-EF3A-42E7-91F7-0D979493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A737B"/>
                </a:solidFill>
              </a:defRPr>
            </a:pPr>
            <a:r>
              <a:rPr sz="900" b="1">
                <a:solidFill>
                  <a:srgbClr val="6A737B"/>
                </a:solidFill>
              </a:rPr>
              <a:t>07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8ACB7-D759-4905-A7AE-9A0B9906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3F46E-4624-46FE-BEC0-2E701408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5"/>
                </a:solidFill>
              </a:defRPr>
            </a:pPr>
            <a:r>
              <a:rPr sz="2550" b="1">
                <a:solidFill>
                  <a:srgbClr val="111315"/>
                </a:solidFill>
              </a:rPr>
              <a:t>Что получилось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F74C0-78B3-4C0B-8064-238494B4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</a:defRPr>
            </a:pPr>
            <a:r>
              <a:rPr sz="1350" b="0">
                <a:solidFill>
                  <a:srgbClr val="6A737B"/>
                </a:solidFill>
              </a:rPr>
              <a:t>Теперь можно ответить на два главных вопроса: помогает ли биосигнал музыке и остаётся ли в музыке различимый след самих данных.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3DED9-89FA-452A-AD4E-25B67A33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5219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8CE2D-F8A5-45B6-9381-CE3C8364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487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37B"/>
                </a:solidFill>
              </a:defRPr>
            </a:pPr>
            <a:r>
              <a:rPr sz="975" b="1">
                <a:solidFill>
                  <a:srgbClr val="6A737B"/>
                </a:solidFill>
              </a:rPr>
              <a:t>H1: композитный балл качества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57250" y="2609850"/>
          <a:ext xmlns:a="http://schemas.openxmlformats.org/drawingml/2006/main" cx="4876800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a0b999b0014df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C0342-4F8A-4401-AE9B-EAA269E8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28850"/>
            <a:ext cx="5372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DD4DB-403F-40EE-9453-4FD8BC4C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502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A737B"/>
                </a:solidFill>
              </a:defRPr>
            </a:pPr>
            <a:r>
              <a:rPr sz="975" b="1">
                <a:solidFill>
                  <a:srgbClr val="6A737B"/>
                </a:solidFill>
              </a:rPr>
              <a:t>H2: точность восстановления кластера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305550" y="2609850"/>
          <a:ext xmlns:a="http://schemas.openxmlformats.org/drawingml/2006/main" cx="5029200" cy="1828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d6bea155d144e9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929A3-3820-40A5-9C76-EE71A34D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5219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8F992-BF98-47F2-A7FA-70C34DF6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59708-2520-40E2-90BD-6F00871F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487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Как читать H1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30666-951C-4383-B2FE-A2A99E2C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4876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0.6587 против 0.6416.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p = 0.0003929,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Cohen's d = 0.6719.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Биоуправление улучшает музыку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систематически, а не случайно.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1C32D-A719-4103-8564-C6FBDE76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38700"/>
            <a:ext cx="5372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98EDB-81B9-44F1-AA2F-2B97181C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387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A4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0ABA1F-765E-4BFC-98C4-F3600E38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91100"/>
            <a:ext cx="502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Как читать H2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CC745B-0E91-4194-9D46-EF880211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34000"/>
            <a:ext cx="5029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0.40 против 0.333.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Перестановочный p = 0.2218.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След биоданных возможен,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но его пока нельзя уверенно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отделить от случайности.</a:t>
            </a:r>
          </a:p>
        </p:txBody>
      </p:sp>
    </p:spTree>
    <p:extLst>
      <p:ext uri="{BB962C8B-B14F-4D97-AF65-F5344CB8AC3E}">
        <p14:creationId xmlns:p14="http://schemas.microsoft.com/office/powerpoint/2010/main" val="7683640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910869-99A0-4E5F-8C7D-D84BECF6FD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F5B66-7172-475C-B132-137793AF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B8D"/>
                </a:solidFill>
              </a:defRPr>
            </a:pPr>
            <a:r>
              <a:rPr sz="900" b="1">
                <a:solidFill>
                  <a:srgbClr val="0F8B8D"/>
                </a:solidFill>
              </a:rPr>
              <a:t>BioSonification (биосонификация)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48F96-831C-4C7E-8E62-057390A2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3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A737B"/>
                </a:solidFill>
              </a:defRPr>
            </a:pPr>
            <a:r>
              <a:rPr sz="900" b="1">
                <a:solidFill>
                  <a:srgbClr val="6A737B"/>
                </a:solidFill>
              </a:rPr>
              <a:t>08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A5775-CF45-4378-AF9B-463468B5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461A4-5C1D-44E7-9660-66F0C2F7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315"/>
                </a:solidFill>
              </a:defRPr>
            </a:pPr>
            <a:r>
              <a:rPr sz="2550" b="1">
                <a:solidFill>
                  <a:srgbClr val="111315"/>
                </a:solidFill>
              </a:rPr>
              <a:t>Что это даёт и что дальше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C710B-260F-4518-AA14-0F82D65D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737B"/>
                </a:solidFill>
              </a:defRPr>
            </a:pPr>
            <a:r>
              <a:rPr sz="1350" b="0">
                <a:solidFill>
                  <a:srgbClr val="6A737B"/>
                </a:solidFill>
              </a:rPr>
              <a:t>Здесь исходная актуальность замыкается: если биоданные можно слушать осмысленно, сонификация становится не украшением, а новым интерфейсом восприятия.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9A37F-A41D-48EB-AED7-0A905B2F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86077-0659-44D0-B872-C09ED276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E86EA-204E-40A3-9419-D0C48420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Что уже можно сказать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F6A43-0D82-433F-A005-9346B661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3086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Биоданные уже можно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делать слышимыми: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признаки последовательности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становятся музыкальными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параметрами генерации.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B7A9A-E97E-43D3-9303-9A686451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2885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25776-733A-4500-83BC-41E5C96C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28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4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B645E-B8E0-4670-B55C-FB97A150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Почему это важно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035CE-1732-45A4-8EF7-7B3DCF43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3086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Слух становится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дополнительным каналом: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он помогает замечать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паттерны, контрасты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и вариативность.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3BECE-8658-463E-B91D-BC7A487D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429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760CB5-6DBB-4403-B2A6-7323E698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4A4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F409F-86A8-4219-8487-EED32C06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Для кого это полезно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0971EA-2936-480D-A6D4-23B107BB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3086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Неспециалист получает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интуитивный вход в тему,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а исследователь — интерфейс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для поискового анализа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и научной коммуникации.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7E850-8EF0-4A72-9FAB-7685A5BC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6318E4-A288-4E2E-B5CA-8F85D73D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ED4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8D3E9-FFEE-4F5D-A5F7-5C46801E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487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Что пока ограничивает выводы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59131-9633-450C-9358-8DF3E6CD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876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434 пары мало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для сильного вывода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о переносе информации.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H2 не подтверждена,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поэтому это пока исследовательская платформа.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B19B5-2B62-45C8-A279-72B3FF23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71950"/>
            <a:ext cx="5372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C4946B-5C27-4C15-9654-838C9F75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719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841C64-1EBD-4A89-B15A-2F42B9C7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502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315"/>
                </a:solidFill>
              </a:defRPr>
            </a:pPr>
            <a:r>
              <a:rPr sz="1050" b="1">
                <a:solidFill>
                  <a:srgbClr val="111315"/>
                </a:solidFill>
              </a:rPr>
              <a:t>Что делать дальше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7880A-D1F3-4561-9D00-828E36A7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67250"/>
            <a:ext cx="5029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Нужны больше парных данных,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богаче биопризнаки,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слуховые исследования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с экспертами и новичками,</a:t>
            </a:r>
          </a:p>
          <a:p xmlns:a="http://schemas.openxmlformats.org/drawingml/2006/main">
            <a:pPr algn="l">
              <a:defRPr sz="1275" b="0">
                <a:solidFill>
                  <a:srgbClr val="2D3135"/>
                </a:solidFill>
              </a:defRPr>
            </a:pPr>
            <a:r>
              <a:rPr sz="1275" b="0">
                <a:solidFill>
                  <a:srgbClr val="2D3135"/>
                </a:solidFill>
              </a:rPr>
              <a:t>и сильнее метрики переноса.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446168-9EC1-4838-BAAD-77844BBA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737B"/>
                </a:solidFill>
              </a:defRPr>
            </a:pPr>
            <a:r>
              <a:rPr sz="900" b="0">
                <a:solidFill>
                  <a:srgbClr val="6A737B"/>
                </a:solidFill>
              </a:rPr>
              <a:t>Главный итог: на биоданные уже можно смотреть ушами, но этот канал восприятия ещё нужно сделать надёжнее и богаче.</a:t>
            </a:r>
          </a:p>
        </p:txBody>
      </p:sp>
    </p:spTree>
    <p:extLst>
      <p:ext uri="{BB962C8B-B14F-4D97-AF65-F5344CB8AC3E}">
        <p14:creationId xmlns:p14="http://schemas.microsoft.com/office/powerpoint/2010/main" val="1877021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2026-04-20T01:39:35.3230000Z</dcterms:created>
  <dcterms:modified xsi:type="dcterms:W3CDTF">2026-04-20T01:39:35.3230000Z</dcterms:modified>
</coreProperties>
</file>